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5" r:id="rId2"/>
    <p:sldId id="276" r:id="rId3"/>
    <p:sldId id="256" r:id="rId4"/>
    <p:sldId id="257" r:id="rId5"/>
    <p:sldId id="258" r:id="rId6"/>
    <p:sldId id="259" r:id="rId7"/>
    <p:sldId id="260" r:id="rId8"/>
    <p:sldId id="270" r:id="rId9"/>
    <p:sldId id="265" r:id="rId10"/>
    <p:sldId id="266" r:id="rId11"/>
    <p:sldId id="267" r:id="rId12"/>
    <p:sldId id="268" r:id="rId13"/>
    <p:sldId id="271" r:id="rId14"/>
    <p:sldId id="277" r:id="rId15"/>
    <p:sldId id="278" r:id="rId16"/>
    <p:sldId id="269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25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41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14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7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5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5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63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5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74661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2353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30758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58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67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86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50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8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924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986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412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86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78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5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654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7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2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0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6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49640" y="960120"/>
            <a:ext cx="960120" cy="960120"/>
          </a:xfrm>
          <a:prstGeom prst="ellipse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49640" y="1289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6" name="Oval 5"/>
          <p:cNvSpPr/>
          <p:nvPr/>
        </p:nvSpPr>
        <p:spPr>
          <a:xfrm>
            <a:off x="10287000" y="960120"/>
            <a:ext cx="960120" cy="960120"/>
          </a:xfrm>
          <a:prstGeom prst="ellipse">
            <a:avLst/>
          </a:prstGeom>
          <a:solidFill>
            <a:srgbClr val="F6B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87000" y="1289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2423160"/>
            <a:ext cx="960120" cy="960120"/>
          </a:xfrm>
          <a:prstGeom prst="ellipse">
            <a:avLst/>
          </a:prstGeom>
          <a:solidFill>
            <a:srgbClr val="377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0" y="275234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3886200"/>
            <a:ext cx="960120" cy="960120"/>
          </a:xfrm>
          <a:prstGeom prst="ellipse">
            <a:avLst/>
          </a:prstGeom>
          <a:solidFill>
            <a:srgbClr val="377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42153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0" y="3886200"/>
            <a:ext cx="960120" cy="960120"/>
          </a:xfrm>
          <a:prstGeom prst="ellipse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87000" y="42153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444752"/>
            <a:ext cx="777239" cy="27432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1920240"/>
            <a:ext cx="548639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0" y="1920240"/>
            <a:ext cx="50292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3383280"/>
            <a:ext cx="59436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0" y="3383280"/>
            <a:ext cx="59436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713232"/>
            <a:ext cx="658368" cy="54864"/>
          </a:xfrm>
          <a:prstGeom prst="rect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96012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00A4A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389888"/>
            <a:ext cx="690372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dirty="0"/>
              <a:t>E-Commerce Customer</a:t>
            </a:r>
            <a:br>
              <a:rPr dirty="0"/>
            </a:br>
            <a:r>
              <a:rPr dirty="0"/>
              <a:t>Intelligence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697480"/>
            <a:ext cx="67208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0">
                <a:solidFill>
                  <a:srgbClr val="D8E2ED"/>
                </a:solidFill>
                <a:latin typeface="Aptos"/>
              </a:defRPr>
            </a:pPr>
            <a:r>
              <a:t>A data-driven project that combines customer, product, browsing, purchase and review data to understand how people shop and support better business decisions.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77640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664207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Six connected MySQL tables organise users, products, sessions, interactions, purchases and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3977640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4389120"/>
            <a:ext cx="1664208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SQL analysis explores revenue, product performance and customer purchasing behaviour.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76672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32704" y="3977640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2704" y="4389120"/>
            <a:ext cx="1664207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K-Means clustering groups customers by purchase recency, frequency and spending.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6903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B7DCE0"/>
                </a:solidFill>
                <a:latin typeface="Aptos"/>
              </a:defRPr>
            </a:pPr>
            <a:r>
              <a:rPr dirty="0"/>
              <a:t>Why it matters: turn raw e-commerce records into clearer customer insights and more targeted actions.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60167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50" b="1">
                <a:solidFill>
                  <a:srgbClr val="C3D2E2"/>
                </a:solidFill>
                <a:latin typeface="Aptos"/>
              </a:defRPr>
            </a:pPr>
            <a:r>
              <a:t>DATABASE  •  SQL  •  ML  •  BUSINESS 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37960"/>
            <a:ext cx="6858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BECDDE"/>
                </a:solidFill>
                <a:latin typeface="Aptos"/>
              </a:defRPr>
            </a:pPr>
            <a:r>
              <a:rPr lang="en-US" sz="1200" dirty="0"/>
              <a:t>  TEAM MEMBER – AKASH UNIYAL, ANURAG KUMAR , BISWAJIT GIRI, PRITHWISH MANNA</a:t>
            </a:r>
            <a:endParaRPr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BECDDE"/>
                </a:solidFill>
                <a:latin typeface="Aptos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0D203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37160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50" b="0">
                <a:solidFill>
                  <a:srgbClr val="55677B"/>
                </a:solidFill>
                <a:latin typeface="Aptos"/>
              </a:defRPr>
            </a:pPr>
            <a:r>
              <a:t>The project aims to build a reliable analytical foundation and turn data into actionable customer and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2240280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1. Create a structured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651760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Store and connect the six datasets in MySQL using primary keys, foreign keys and data-quality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57400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2. Prepare reliable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651760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Clean and validate records, check missing values and duplicates, and maintain consistent data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75887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72184" y="3858768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3. Analyse customer and business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4270248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Use SQL to study purchasing behaviour, product performance, revenue trends and customer activity.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86016" y="3858768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4. Segment customers with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4270248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Use customer-level features and K-Means clustering to identify groups with different purchase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13248"/>
            <a:ext cx="10789920" cy="713232"/>
          </a:xfrm>
          <a:prstGeom prst="roundRect">
            <a:avLst/>
          </a:prstGeom>
          <a:solidFill>
            <a:srgbClr val="E0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559552"/>
            <a:ext cx="10287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0D203B"/>
                </a:solidFill>
                <a:latin typeface="Aptos"/>
              </a:defRPr>
            </a:pPr>
            <a:r>
              <a:t>Expected outcome: a connected data system, meaningful analysis and customer segments that can inform targeted engagement and retention strategies.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55677B"/>
                </a:solidFill>
                <a:latin typeface="Aptos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9789" y="1602380"/>
            <a:ext cx="8159931" cy="1726627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sz="5400" u="sng" dirty="0"/>
              <a:t>Database Architecture &amp; ETL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1. Overall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132588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rPr dirty="0">
                <a:latin typeface="+mj-lt"/>
              </a:rPr>
              <a:t>Source data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rPr dirty="0"/>
              <a:t>Cleaned CSV files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rPr dirty="0"/>
              <a:t>6 data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828800"/>
            <a:ext cx="2148840" cy="13258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Python ETL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csv / Pandas*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mysql.connector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Load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54480"/>
            <a:ext cx="2788920" cy="1874519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MySQL database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E_Commerce_Customer_Intelligence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6 relational tables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PKs, FKs,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828800"/>
            <a:ext cx="2240280" cy="1325880"/>
          </a:xfrm>
          <a:prstGeom prst="roundRect">
            <a:avLst/>
          </a:prstGeom>
          <a:solidFill>
            <a:srgbClr val="F0F0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Analysis layer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SQL queries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Python / Pandas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Business insights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487168"/>
            <a:ext cx="640080" cy="0"/>
          </a:xfrm>
          <a:prstGeom prst="line">
            <a:avLst/>
          </a:prstGeom>
          <a:ln w="25400">
            <a:solidFill>
              <a:srgbClr val="E08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487168"/>
            <a:ext cx="685800" cy="0"/>
          </a:xfrm>
          <a:prstGeom prst="line">
            <a:avLst/>
          </a:prstGeom>
          <a:ln w="25400">
            <a:solidFill>
              <a:srgbClr val="30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2487168"/>
            <a:ext cx="594360" cy="0"/>
          </a:xfrm>
          <a:prstGeom prst="line">
            <a:avLst/>
          </a:prstGeom>
          <a:ln w="25400">
            <a:solidFill>
              <a:srgbClr val="1F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23744" y="2075688"/>
            <a:ext cx="6400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2075688"/>
            <a:ext cx="6400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075688"/>
            <a:ext cx="56692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70248"/>
            <a:ext cx="313639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t>Connection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3136392" cy="7498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rPr dirty="0"/>
              <a:t>Python connects to MySQL at 127.0.0.1 using the root account and the target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6052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270248"/>
            <a:ext cx="313639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t>Data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36008"/>
            <a:ext cx="3136392" cy="7498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Primary keys, foreign keys, CHECK constraints and triggers help enforce valid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16052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19" y="4270248"/>
            <a:ext cx="313639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t>Analysis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636008"/>
            <a:ext cx="3136392" cy="7498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The stored data can support sales, customer, product and engagement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2. Database Architecture (Relational Model)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USERS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user_id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SESSIONS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session_id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FK user_id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INTERACTIONS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interaction_id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product_id, session_id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PRODUCTS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product_id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Price, stock,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703320"/>
            <a:ext cx="2560320" cy="123444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PURCHASES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purchase_id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Optional session /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703320"/>
            <a:ext cx="2560320" cy="1234440"/>
          </a:xfrm>
          <a:prstGeom prst="roundRect">
            <a:avLst/>
          </a:prstGeom>
          <a:solidFill>
            <a:srgbClr val="F0F0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REVIEWS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review_id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Optional purchase_id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1920240"/>
            <a:ext cx="8686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97880" y="1920240"/>
            <a:ext cx="8686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06840" y="1920240"/>
            <a:ext cx="4114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45920" y="2514600"/>
            <a:ext cx="173736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983480" y="2514600"/>
            <a:ext cx="534924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77440" y="2514600"/>
            <a:ext cx="475488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503920" y="2514600"/>
            <a:ext cx="201168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3. ETL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063240" cy="205740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EXTRACT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Read the source CSV files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Identify the six datasets: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users • products • sessions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interactions • purchases •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063240" cy="205740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TRANSFORM / PREPARE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Check column-to-table mapping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Handle missing values for SQL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Convert Pandas nulls to SQL NULL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Preserve expected data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45920"/>
            <a:ext cx="3063240" cy="2057400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LOAD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Python MySQL Connector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Connect to local MySQL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Insert rows into matching tables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Commit changes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651760"/>
            <a:ext cx="1005840" cy="0"/>
          </a:xfrm>
          <a:prstGeom prst="line">
            <a:avLst/>
          </a:prstGeom>
          <a:ln w="31750">
            <a:solidFill>
              <a:srgbClr val="E08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651760"/>
            <a:ext cx="1005840" cy="0"/>
          </a:xfrm>
          <a:prstGeom prst="line">
            <a:avLst/>
          </a:prstGeom>
          <a:ln w="31750">
            <a:solidFill>
              <a:srgbClr val="30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2194560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434840"/>
            <a:ext cx="6492240" cy="960120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OUTPUT: MySQL relational database</a:t>
            </a:r>
          </a:p>
          <a:p>
            <a:pPr algn="ctr">
              <a:spcAft>
                <a:spcPts val="1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Six populated tables → SQL queries → analysis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229600" y="3703320"/>
            <a:ext cx="1920240" cy="731520"/>
          </a:xfrm>
          <a:prstGeom prst="line">
            <a:avLst/>
          </a:prstGeom>
          <a:ln w="22860">
            <a:solidFill>
              <a:srgbClr val="1F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4. Data Integrity &amp;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4445" y="1331976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749" y="1396202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Primary &amp; foreign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749" y="1685980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Uniquely identify records and maintain valid links between users, products, sessions, interactions, purchases and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8257" y="1266227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84561" y="1343733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CHECK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7242" y="1731918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Examples: price ≥ 0, stock ≥ 0, quantity &gt; 0, review rating between 1 and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09" y="3350188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397" y="3454473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Purchase triggers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213" y="3880540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BEFORE INSERT and BEFORE UPDATE calculate </a:t>
            </a:r>
            <a:r>
              <a:rPr dirty="0" err="1"/>
              <a:t>total_amount</a:t>
            </a:r>
            <a:r>
              <a:rPr dirty="0"/>
              <a:t> = quantity × </a:t>
            </a:r>
            <a:r>
              <a:rPr dirty="0" err="1"/>
              <a:t>unit_price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3231" y="333756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9535" y="3447288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Product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9535" y="3758184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Rejects a negative product price. This duplicates the existing CHECK constraint, providing a trigger example.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0020" y="3337560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9204" y="3432919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Review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4716" y="3820015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Rejects ratings outside 1–5. This also duplicates the review CHECK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D112-DB5A-0D2F-2374-F6FBC1F1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23A583-2247-9A2F-75ED-31E075FD4A83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247E5-33AA-457E-167B-8AA0246FD586}"/>
              </a:ext>
            </a:extLst>
          </p:cNvPr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3D757-F5A9-635D-8A8F-63B7B15D18F9}"/>
              </a:ext>
            </a:extLst>
          </p:cNvPr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9552E-A215-4274-3D13-F324972B8460}"/>
              </a:ext>
            </a:extLst>
          </p:cNvPr>
          <p:cNvSpPr txBox="1"/>
          <p:nvPr/>
        </p:nvSpPr>
        <p:spPr>
          <a:xfrm>
            <a:off x="812075" y="2096361"/>
            <a:ext cx="8159931" cy="987963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lang="en-US" sz="6000" u="sng" dirty="0"/>
              <a:t>DATA ANALYSIS</a:t>
            </a:r>
            <a:endParaRPr sz="6000" u="sng" dirty="0"/>
          </a:p>
        </p:txBody>
      </p:sp>
    </p:spTree>
    <p:extLst>
      <p:ext uri="{BB962C8B-B14F-4D97-AF65-F5344CB8AC3E}">
        <p14:creationId xmlns:p14="http://schemas.microsoft.com/office/powerpoint/2010/main" val="174414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5A6E-4525-216C-EC77-862C8118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3058C-1D77-FF79-F38C-E8B0C1093DD9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CBD9B-C9C8-87ED-4C95-6DD3307E4C89}"/>
              </a:ext>
            </a:extLst>
          </p:cNvPr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87992-A5F2-F9FD-CAD8-6DCB97CA36B5}"/>
              </a:ext>
            </a:extLst>
          </p:cNvPr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78390-6476-D9F1-7861-1947B7AE2F1C}"/>
              </a:ext>
            </a:extLst>
          </p:cNvPr>
          <p:cNvSpPr txBox="1"/>
          <p:nvPr/>
        </p:nvSpPr>
        <p:spPr>
          <a:xfrm>
            <a:off x="812075" y="2096361"/>
            <a:ext cx="8159931" cy="289874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lang="en-US" sz="6000" u="sng" dirty="0"/>
              <a:t>CUSTOMER SEGMENTATION</a:t>
            </a:r>
          </a:p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endParaRPr sz="6000" u="sng" dirty="0"/>
          </a:p>
        </p:txBody>
      </p:sp>
    </p:spTree>
    <p:extLst>
      <p:ext uri="{BB962C8B-B14F-4D97-AF65-F5344CB8AC3E}">
        <p14:creationId xmlns:p14="http://schemas.microsoft.com/office/powerpoint/2010/main" val="214850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372" y="551695"/>
            <a:ext cx="7205860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1600" dirty="0"/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3628" y="477422"/>
            <a:ext cx="8432175" cy="75018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8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Use unsupervised machine learning to group customers with similar purchasing </a:t>
            </a:r>
            <a:r>
              <a:rPr sz="1600" dirty="0" err="1"/>
              <a:t>behaviour</a:t>
            </a:r>
            <a:r>
              <a:rPr sz="1600" dirty="0"/>
              <a:t>. The goal is to turn transaction history into interpretable customer segments that can support targeted marketing, retention campaigns and customer-value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281" y="1537503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Workflow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94752"/>
              </p:ext>
            </p:extLst>
          </p:nvPr>
        </p:nvGraphicFramePr>
        <p:xfrm>
          <a:off x="533400" y="1825860"/>
          <a:ext cx="10497587" cy="206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45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1. Data source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2. Feature engineering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3. Model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4. Business output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14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Purchase records retrieved from the MySQL e-commerce database.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Customer-level RFM-style purchase features calculated from orders.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Standard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Scaler + K-Means clustering; compare candidate cluster counts.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Three named customer segments and a reusable prediction function.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1372" y="3893461"/>
            <a:ext cx="4254825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Data preparation and customer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221378"/>
            <a:ext cx="5562600" cy="1981291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• Converted order dates to datetime and purchase quantities, unit prices and total amounts to numeric values.</a:t>
            </a:r>
            <a:br>
              <a:rPr sz="1600" dirty="0"/>
            </a:br>
            <a:r>
              <a:rPr sz="1600" dirty="0"/>
              <a:t>• Removed purchase rows missing essential identifiers or order dates, then aggregated line items to the customer-order level.</a:t>
            </a:r>
            <a:br>
              <a:rPr sz="1600" dirty="0"/>
            </a:br>
            <a:r>
              <a:rPr sz="1600" dirty="0"/>
              <a:t>• Built one customer-level record for each customer with purchase history; customers without purchase records were excluded from clustering.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0675" y="3890648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Features used in the final model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70529"/>
              </p:ext>
            </p:extLst>
          </p:nvPr>
        </p:nvGraphicFramePr>
        <p:xfrm>
          <a:off x="6260675" y="4197696"/>
          <a:ext cx="5839165" cy="210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0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75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Feature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Meaning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Recency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Days since the customer's most recent purchase at the analysis reference date.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Frequency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Number of distinct orders made by the customer.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Monetary value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Total spending across the customer's recorded orders.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Average order value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Average monetary value per order.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059281" y="6657846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3" name="TextBox 12"/>
          <p:cNvSpPr txBox="1"/>
          <p:nvPr/>
        </p:nvSpPr>
        <p:spPr>
          <a:xfrm>
            <a:off x="4059281" y="667496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0478" y="6674961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4922" y="214824"/>
            <a:ext cx="3993567" cy="38085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2400" dirty="0"/>
              <a:t>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0457" y="569434"/>
            <a:ext cx="6128175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1. Feature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865" y="894828"/>
            <a:ext cx="9893624" cy="442409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Applied Standard</a:t>
            </a:r>
            <a:r>
              <a:rPr lang="en-IN" sz="1400" dirty="0"/>
              <a:t> </a:t>
            </a:r>
            <a:r>
              <a:rPr sz="1400" dirty="0"/>
              <a:t>Scaler to the numeric features before clustering. Scaling places features on comparable scales so that a high-magnitude variable such as total spending does not dominate the distance calculations simply because of its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2608" y="1426057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2. K-Means and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511" y="1737348"/>
            <a:ext cx="4557267" cy="130418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lang="en-IN" sz="1400" dirty="0">
                <a:sym typeface="Wingdings" panose="05000000000000000000" pitchFamily="2" charset="2"/>
              </a:rPr>
              <a:t> </a:t>
            </a:r>
            <a:r>
              <a:rPr sz="1400" dirty="0"/>
              <a:t>Tested candidate cluster counts from </a:t>
            </a:r>
            <a:r>
              <a:rPr sz="1400" b="1" dirty="0"/>
              <a:t>k = 2 to k = 8</a:t>
            </a:r>
            <a:r>
              <a:rPr sz="1400" dirty="0"/>
              <a:t>. For each candidate, the notebook recorded inertia and the silhouette score. </a:t>
            </a:r>
            <a:endParaRPr lang="en-IN" sz="14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lang="en-IN" sz="1400" dirty="0">
                <a:sym typeface="Wingdings" panose="05000000000000000000" pitchFamily="2" charset="2"/>
              </a:rPr>
              <a:t>  </a:t>
            </a:r>
            <a:r>
              <a:rPr sz="1400" dirty="0"/>
              <a:t>Inertia measures within-cluster squared distances; the silhouette score gives a measure of how well-separated and cohesive the clusters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2922" y="1436613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3. Refining the feature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8371" y="1740974"/>
            <a:ext cx="4438118" cy="1211850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300" dirty="0"/>
              <a:t>An initial experiment used recency, frequency, monetary value, purchase frequency and average order value. The workflow then removed purchase frequency and repeated the comparison using four features: recency, frequency, monetary value and average order value. The final model was set </a:t>
            </a:r>
            <a:r>
              <a:rPr sz="1300" b="1" dirty="0"/>
              <a:t>to K-Means with k = 3</a:t>
            </a:r>
            <a:r>
              <a:rPr sz="13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9303" y="3042776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Final segmentation model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328173"/>
              </p:ext>
            </p:extLst>
          </p:nvPr>
        </p:nvGraphicFramePr>
        <p:xfrm>
          <a:off x="2079171" y="3327978"/>
          <a:ext cx="8131629" cy="1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9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97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Component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Implementation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Algorithm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K-Means clustering (unsupervised learning)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Final number of clusters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3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Input features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Recency, frequency, monetary value, average order value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38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Scaling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Standard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Scaler fit on the final four-feature matrix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Reproducibility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lang="en-IN" sz="1400" dirty="0"/>
                        <a:t>R</a:t>
                      </a:r>
                      <a:r>
                        <a:rPr sz="1400" dirty="0" err="1"/>
                        <a:t>andom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state = 42; n</a:t>
                      </a:r>
                      <a:r>
                        <a:rPr lang="en-IN" sz="1400" dirty="0"/>
                        <a:t> </a:t>
                      </a:r>
                      <a:r>
                        <a:rPr sz="1400" dirty="0" err="1"/>
                        <a:t>init</a:t>
                      </a:r>
                      <a:r>
                        <a:rPr sz="1400" dirty="0"/>
                        <a:t> = 10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32978" y="5032492"/>
            <a:ext cx="3993567" cy="22696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400" dirty="0"/>
              <a:t>Important interpretation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85" y="5349409"/>
            <a:ext cx="5485916" cy="130418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19" b="0">
                <a:solidFill>
                  <a:srgbClr val="19364E"/>
                </a:solidFill>
                <a:latin typeface="Arial"/>
              </a:defRPr>
            </a:pPr>
            <a:r>
              <a:rPr sz="1400" dirty="0"/>
              <a:t>Cluster IDs are numeric labels, not rankings. Their business meaning was assigned after inspecting each cluster's average purchase </a:t>
            </a:r>
            <a:r>
              <a:rPr sz="1400" dirty="0" err="1"/>
              <a:t>behaviour</a:t>
            </a:r>
            <a:r>
              <a:rPr sz="1400" dirty="0"/>
              <a:t>. The notebook records the final choice of three clusters, but the presentation does not claim a specific best silhouette score because no selected score value is documented in the notebook's explanatory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8350" y="5028696"/>
            <a:ext cx="3993567" cy="22696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400" dirty="0"/>
              <a:t>What the model produces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8371" y="5356564"/>
            <a:ext cx="4873545" cy="873296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For each customer in the segmentation dataset, the trained model assigns a cluster ID. The notebook maps those IDs to readable segment names and prepares the predictions for storage in MySQL.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9281" y="6461903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7" name="TextBox 16"/>
          <p:cNvSpPr txBox="1"/>
          <p:nvPr/>
        </p:nvSpPr>
        <p:spPr>
          <a:xfrm>
            <a:off x="4059281" y="648733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0478" y="6479018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4922" y="410767"/>
            <a:ext cx="3993567" cy="319298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2000" dirty="0"/>
              <a:t>RESULTS &amp; PRACTICAL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057" y="858754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The three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636" y="1168402"/>
            <a:ext cx="4854633" cy="873296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The notebook's final cluster profiles were interpreted using average purchase frequency, spending and recency. The figures below are the values documented in the notebook's interpretation section.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063373"/>
              </p:ext>
            </p:extLst>
          </p:nvPr>
        </p:nvGraphicFramePr>
        <p:xfrm>
          <a:off x="213762" y="2029380"/>
          <a:ext cx="5731568" cy="4518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861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Segment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Avg. orders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Avg. total spending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Interpretation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835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Repeat Buyers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2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164.52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Customers with more repeat purchases and the lowest average recency among the final segments.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348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Low-Spending One-Time Buyers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1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61.99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Customers who typically made one purchase and have the lowest average total spending.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835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High-Spending One-Time Buyers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1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312.77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Customers who typically made one purchase but have the highest average total spending; average order value ≈ 311.01.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89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 dirty="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7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3683" y="910659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Making the model reusable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2069" y="1202379"/>
            <a:ext cx="5731568" cy="259684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• Created a prediction function that accepts recency, frequency, monetary value and average order value for a customer, applies the fitted scaler and predicts a cluster using the trained K-Means model.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Mapped cluster IDs to business-friendly labels: Repeat Buyers, Low-Spending One-Time Buyers and High-Spending One-Time Buyers.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Prepared a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/>
              <a:t>predictions table in MySQL to store user ID, features, predicted cluster and segment name.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Saved the trained model and scaler as separate </a:t>
            </a:r>
            <a:r>
              <a:rPr sz="1400" dirty="0" err="1"/>
              <a:t>Joblib</a:t>
            </a:r>
            <a:r>
              <a:rPr sz="1400" dirty="0"/>
              <a:t> files: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 err="1"/>
              <a:t>model.joblib</a:t>
            </a:r>
            <a:r>
              <a:rPr sz="1400" dirty="0"/>
              <a:t> and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/>
              <a:t>scaler.</a:t>
            </a:r>
            <a:r>
              <a:rPr lang="en-IN" sz="1400" dirty="0"/>
              <a:t> </a:t>
            </a:r>
            <a:r>
              <a:rPr sz="1400" dirty="0" err="1"/>
              <a:t>joblib</a:t>
            </a:r>
            <a:r>
              <a:rPr sz="14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0133" y="4070204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480" y="4460773"/>
            <a:ext cx="5843709" cy="1488849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These segments help a business distinguish repeat customers from lower-spending and high-spending one-time buyers.</a:t>
            </a:r>
            <a:endParaRPr lang="en-IN" sz="16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endParaRPr lang="en-IN" sz="16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They can guide tailored offers, repeat-purchase campaigns and differentiated customer engagement rather than treating every customer identically.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281" y="6657846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5" name="TextBox 14"/>
          <p:cNvSpPr txBox="1"/>
          <p:nvPr/>
        </p:nvSpPr>
        <p:spPr>
          <a:xfrm>
            <a:off x="4059281" y="667496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0478" y="6674961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eri Chai Ki Tapri Pe">
            <a:hlinkClick r:id="" action="ppaction://media"/>
            <a:extLst>
              <a:ext uri="{FF2B5EF4-FFF2-40B4-BE49-F238E27FC236}">
                <a16:creationId xmlns:a16="http://schemas.microsoft.com/office/drawing/2014/main" id="{D25A447A-B560-D7D5-C9C6-DFA5F0E6D9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600" y="6429829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9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132</TotalTime>
  <Words>1445</Words>
  <Application>Microsoft Office PowerPoint</Application>
  <PresentationFormat>Widescreen</PresentationFormat>
  <Paragraphs>195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Neue Haas Grotesk Text Pro</vt:lpstr>
      <vt:lpstr>System Font Regular</vt:lpstr>
      <vt:lpstr>Wingdings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ANURAG KUMAR</cp:lastModifiedBy>
  <cp:revision>4</cp:revision>
  <dcterms:created xsi:type="dcterms:W3CDTF">2013-01-27T09:14:16Z</dcterms:created>
  <dcterms:modified xsi:type="dcterms:W3CDTF">2026-10-29T20:32:41Z</dcterms:modified>
  <cp:category/>
</cp:coreProperties>
</file>